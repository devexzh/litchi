
<file path=[Content_Types].xml><?xml version="1.0" encoding="utf-8"?>
<Types xmlns="http://schemas.openxmlformats.org/package/2006/content-types">
  <Default Extension="emf" ContentType="image/x-emf"/>
  <Default Extension="glb" ContentType="model/gltf.binary"/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svg" ContentType="image/svg+xml"/>
  <Default Extension="vtt" ContentType="text/vtt"/>
  <Default Extension="wav" ContentType="audio/x-wa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Ex2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62"/>
  </p:normalViewPr>
  <p:slideViewPr>
    <p:cSldViewPr snapToGrid="0">
      <p:cViewPr varScale="1">
        <p:scale>
          <a:sx n="104" d="100"/>
          <a:sy n="104" d="100"/>
        </p:scale>
        <p:origin x="14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1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Microsoft_Excel_Worksheet2.xlsx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Sheet1!$A$2:$A$9</cx:f>
        <cx:lvl ptCount="8">
          <cx:pt idx="0">Start_007</cx:pt>
          <cx:pt idx="1">Gain_A_007</cx:pt>
          <cx:pt idx="2">Loss_A_007</cx:pt>
          <cx:pt idx="3">Gain_B_007</cx:pt>
          <cx:pt idx="4">Subtotal_007</cx:pt>
          <cx:pt idx="5">Loss_B_007</cx:pt>
          <cx:pt idx="6">Gain_C_007</cx:pt>
          <cx:pt idx="7">End_007</cx:pt>
        </cx:lvl>
      </cx:strDim>
      <cx:numDim type="val">
        <cx:f>Sheet1!$B$2:$B$9</cx:f>
        <cx:lvl ptCount="8" formatCode="General">
          <cx:pt idx="0">100</cx:pt>
          <cx:pt idx="1">25</cx:pt>
          <cx:pt idx="2">-10</cx:pt>
          <cx:pt idx="3">5</cx:pt>
          <cx:pt idx="4">120</cx:pt>
          <cx:pt idx="5">-20</cx:pt>
          <cx:pt idx="6">30</cx:pt>
          <cx:pt idx="7">130</cx:pt>
        </cx:lvl>
      </cx:numDim>
    </cx:data>
  </cx:chartData>
  <cx:chart>
    <cx:title pos="t" align="ctr" overlay="0"/>
    <cx:plotArea>
      <cx:plotAreaRegion>
        <cx:series layoutId="waterfall" uniqueId="{45AD5AE5-3E94-0A49-A4FD-13EEADDDE87E}">
          <cx:tx>
            <cx:txData>
              <cx:f>Sheet1!$B$1</cx:f>
              <cx:v>FLOW_007</cx:v>
            </cx:txData>
          </cx:tx>
          <cx:dataLabels pos="outEnd">
            <cx:visibility seriesName="0" categoryName="0" value="1"/>
          </cx:dataLabels>
          <cx:dataId val="0"/>
          <cx:layoutPr>
            <cx:subtotals>
              <cx:idx val="0"/>
              <cx:idx val="4"/>
              <cx:idx val="7"/>
            </cx:subtotals>
          </cx:layoutPr>
        </cx:series>
      </cx:plotAreaRegion>
      <cx:axis id="0">
        <cx:catScaling gapWidth="0.5"/>
        <cx:tickLabels/>
      </cx:axis>
      <cx:axis id="1">
        <cx:valScaling/>
        <cx:majorGridlines/>
        <cx:tickLabels/>
      </cx:axis>
    </cx:plotArea>
    <cx:legend pos="t" align="ctr" overlay="0"/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ITEM_01_007</cx:pt>
          <cx:pt idx="1">ITEM_02_007</cx:pt>
          <cx:pt idx="2">ITEM_03_007</cx:pt>
          <cx:pt idx="3">ITEM_04_007</cx:pt>
          <cx:pt idx="4">ITEM_05_007</cx:pt>
          <cx:pt idx="5">ITEM_06_007</cx:pt>
          <cx:pt idx="6">ITEM_07_007</cx:pt>
          <cx:pt idx="7">ITEM_08_007</cx:pt>
          <cx:pt idx="8">ITEM_09_007</cx:pt>
          <cx:pt idx="9">ITEM_10_007</cx:pt>
          <cx:pt idx="10">ITEM_11_007</cx:pt>
          <cx:pt idx="11">ITEM_12_007</cx:pt>
          <cx:pt idx="12">ITEM_13_007</cx:pt>
          <cx:pt idx="13">ITEM_14_007</cx:pt>
          <cx:pt idx="14">ITEM_15_007</cx:pt>
          <cx:pt idx="15">ITEM_16_007</cx:pt>
        </cx:lvl>
        <cx:lvl ptCount="16">
          <cx:pt idx="0">GROUP_1_007</cx:pt>
          <cx:pt idx="1">GROUP_1_007</cx:pt>
          <cx:pt idx="2">GROUP_1_007</cx:pt>
          <cx:pt idx="3">GROUP_1_007</cx:pt>
          <cx:pt idx="4">GROUP_2_007</cx:pt>
          <cx:pt idx="5">GROUP_2_007</cx:pt>
          <cx:pt idx="6">GROUP_2_007</cx:pt>
          <cx:pt idx="7">GROUP_2_007</cx:pt>
          <cx:pt idx="8">GROUP_3_007</cx:pt>
          <cx:pt idx="9">GROUP_3_007</cx:pt>
          <cx:pt idx="10">GROUP_3_007</cx:pt>
          <cx:pt idx="11">GROUP_3_007</cx:pt>
          <cx:pt idx="12">GROUP_4_007</cx:pt>
          <cx:pt idx="13">GROUP_4_007</cx:pt>
          <cx:pt idx="14">GROUP_4_007</cx:pt>
          <cx:pt idx="15">GROUP_4_007</cx:pt>
        </cx:lvl>
        <cx:lvl ptCount="16">
          <cx:pt idx="0">NORTH_007</cx:pt>
          <cx:pt idx="1">NORTH_007</cx:pt>
          <cx:pt idx="2">NORTH_007</cx:pt>
          <cx:pt idx="3">NORTH_007</cx:pt>
          <cx:pt idx="4">NORTH_007</cx:pt>
          <cx:pt idx="5">NORTH_007</cx:pt>
          <cx:pt idx="6">NORTH_007</cx:pt>
          <cx:pt idx="7">NORTH_007</cx:pt>
          <cx:pt idx="8">SOUTH_007</cx:pt>
          <cx:pt idx="9">SOUTH_007</cx:pt>
          <cx:pt idx="10">SOUTH_007</cx:pt>
          <cx:pt idx="11">SOUTH_007</cx:pt>
          <cx:pt idx="12">SOUTH_007</cx:pt>
          <cx:pt idx="13">SOUTH_007</cx:pt>
          <cx:pt idx="14">SOUTH_007</cx:pt>
          <cx:pt idx="15">SOUTH_007</cx:pt>
        </cx:lvl>
      </cx:strDim>
      <cx:numDim type="size">
        <cx:f>Sheet1!$D$2:$D$17</cx:f>
        <cx:lvl ptCount="16" formatCode="General">
          <cx:pt idx="0">1</cx:pt>
          <cx:pt idx="1">2</cx:pt>
          <cx:pt idx="2">3</cx:pt>
          <cx:pt idx="3">4</cx:pt>
          <cx:pt idx="4">5</cx:pt>
          <cx:pt idx="5">6</cx:pt>
          <cx:pt idx="6">7</cx:pt>
          <cx:pt idx="7">8</cx:pt>
          <cx:pt idx="8">9</cx:pt>
          <cx:pt idx="9">10</cx:pt>
          <cx:pt idx="10">11</cx:pt>
          <cx:pt idx="11">12</cx:pt>
          <cx:pt idx="12">13</cx:pt>
          <cx:pt idx="13">14</cx:pt>
          <cx:pt idx="14">15</cx:pt>
          <cx:pt idx="15">16</cx:pt>
        </cx:lvl>
      </cx:numDim>
    </cx:data>
  </cx:chartData>
  <cx:chart>
    <cx:title pos="t" align="ctr" overlay="0"/>
    <cx:plotArea>
      <cx:plotAreaRegion>
        <cx:series layoutId="sunburst" uniqueId="{63C2407F-B3B8-2146-A3A1-9584958DEF88}">
          <cx:tx>
            <cx:txData>
              <cx:f>Sheet1!$D$1</cx:f>
              <cx:v>HIERARCHY_007</cx:v>
            </cx:txData>
          </cx:tx>
          <cx:dataLabels pos="ctr">
            <cx:visibility seriesName="0" categoryName="1" value="0"/>
          </cx:dataLabels>
          <cx:dataId val="0"/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8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8D156-1A1F-9FCF-6B39-E484B4C4F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49072C-E201-256F-AB62-5270B22190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A3B09-2DD0-B152-DA53-48D150144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879A-C588-BD41-A9A2-50F5915E17C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CC07C-84BF-9960-2227-A5F37FDE7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CCE2E-AB7B-11EF-E647-75A19B8E0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3256-51CC-2541-AB59-1C129953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31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A060-0F35-5146-717A-2ED88BB16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3FF77-7704-AC2F-7BE2-ED268813B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48268-4D26-98D9-EE19-E87B5A3C3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879A-C588-BD41-A9A2-50F5915E17C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9C0BD-F2F0-6179-6E24-12EAAFC25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B811C-93FE-AF2D-BDF8-5732D5ECA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3256-51CC-2541-AB59-1C129953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053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BC94D-A8A0-8588-A9E4-6A35DF3F1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246DC7-D7A5-6B61-A7F1-692E1F08F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F11BD-39EF-F090-AD41-2298B31DC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879A-C588-BD41-A9A2-50F5915E17C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FA5F4-A148-022E-B84A-E145871D6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83BCC-78DA-3F5F-7817-DD116093A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3256-51CC-2541-AB59-1C129953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584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E338C-3321-57CF-B25C-FB540F070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05F16-9198-A8E1-6352-E13CEB4037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861DFE-9EEE-D920-E523-8F47B4B52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94C7E3-648F-7C39-1943-0792AB81D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879A-C588-BD41-A9A2-50F5915E17C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E7E2C-9C0A-F606-7A58-3EDAF6888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5AEBB-0FFD-EF18-1EEE-EAFC84927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3256-51CC-2541-AB59-1C129953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887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3DBA4-FC4C-2576-3157-CD0542E23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F3AAE-D3E5-701E-33CE-1A8282E64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FFB336-0FCB-2EC9-E0CF-28E2A3C25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2EC0F2-6CEF-871A-5997-EEF5DAA78D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7B23C0-E96E-7EA4-0C43-D0CB9949E5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BC17AB-E1AF-4081-5CF6-4C2C68F0E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879A-C588-BD41-A9A2-50F5915E17C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15377C-45AE-F51B-BB40-BC613F530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9C0D3F-30B3-AE22-3F3B-E24637958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3256-51CC-2541-AB59-1C129953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641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0C253-B2E0-BFDC-CB2E-116E93062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80342A-EF20-F0C0-9905-560778B70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879A-C588-BD41-A9A2-50F5915E17C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38E12-1956-38A7-4FDE-05C1C22F3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BA07E0-CDB5-6F80-4681-8C8EA4BA2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3256-51CC-2541-AB59-1C129953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239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EFEA01-AC04-B663-71D2-68212688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879A-C588-BD41-A9A2-50F5915E17C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C589BC-EFF2-FA12-D2C3-01514FA1B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66540-19A5-35DE-2638-3B0DAD9BE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3256-51CC-2541-AB59-1C129953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602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B9AA1-F99D-46BE-6BEC-5A9866EC5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AB42D-6BBF-923A-FD1C-6C5EC6222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0465C2-8ECC-E60A-F7BD-49D24A074F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431732-7EAA-B414-BC0F-B9273DE94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879A-C588-BD41-A9A2-50F5915E17C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A2A3B-D890-EBEA-4A59-6C3CC6F03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1B5C30-3760-9AF4-8109-1DA5E01D0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3256-51CC-2541-AB59-1C129953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806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2C1C9-898E-ED2F-A577-FD5D7A25E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E2769A-A5F9-3A99-FE3C-0E63ADDED7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379825-F756-0603-E51B-61F024A502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75C7CD-7914-047F-E982-CC3841BDE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879A-C588-BD41-A9A2-50F5915E17C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C98484-30B4-A73A-08B0-E782DF489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9CBDFD-EC14-3469-74EC-E52CB7BA3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3256-51CC-2541-AB59-1C129953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00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6BAAE-5ED2-CB13-89EE-8D38A966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91DF3C-5E56-2E82-DC7A-2A397844FD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0E675-9AF6-1062-F309-37205FDB4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879A-C588-BD41-A9A2-50F5915E17C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6BBFA-BB12-00E7-E1E2-7B2E1C7FC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22080-954F-83D1-FA81-D17DD72E2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3256-51CC-2541-AB59-1C129953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4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92D49A-A193-1565-8D4F-6C9EABEF1F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09BBFA-2127-321E-90E4-9202093730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84AA0-B647-C87E-4276-77DA5E215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879A-C588-BD41-A9A2-50F5915E17C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5D413-F095-1CD4-64B4-DD75D468E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A54B6-15D3-32D8-B322-DA3B7AEE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3256-51CC-2541-AB59-1C129953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694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2241CD-ED53-CA5A-D028-267412742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5C376-7D31-6155-37FA-67973484A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306E6-E9C8-E2E4-B2BD-059D1AA9C8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8C879A-C588-BD41-A9A2-50F5915E17C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9B30E-C9D6-39A5-93D4-3EC729CAD4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0E0C3-EEE1-28DA-A50C-C7CF34652F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9A3256-51CC-2541-AB59-1C129953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194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1.mov"/><Relationship Id="rId1" Type="http://schemas.openxmlformats.org/officeDocument/2006/relationships/video" Target="NULL" TargetMode="External"/><Relationship Id="rId5" Type="http://schemas.openxmlformats.org/officeDocument/2006/relationships/image" Target="../media/image1.png"/><Relationship Id="rId4" Type="http://schemas.microsoft.com/office/2017/04/relationships/track" Target="../media/track1.vtt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4/relationships/chartEx" Target="../charts/chartEx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72B93-A91A-21DB-9A97-76A49391EE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PPT_MODERN_MEDIA_007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E339D1-BC70-321C-EFCB-5BF5768D27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Fixture ID: powerpoint-modern-media-007</a:t>
            </a:r>
          </a:p>
          <a:p>
            <a:r>
              <a:rPr lang="en-US" dirty="0"/>
              <a:t>Native captions, vector, 3D and extended charts</a:t>
            </a:r>
          </a:p>
        </p:txBody>
      </p:sp>
    </p:spTree>
    <p:extLst>
      <p:ext uri="{BB962C8B-B14F-4D97-AF65-F5344CB8AC3E}">
        <p14:creationId xmlns:p14="http://schemas.microsoft.com/office/powerpoint/2010/main" val="54126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7FD2C-35A0-EA9D-66E0-0635DE945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VIDEO_EMBED_004</a:t>
            </a:r>
          </a:p>
        </p:txBody>
      </p:sp>
      <p:pic>
        <p:nvPicPr>
          <p:cNvPr id="4" name="striped.mov" descr="VIDEO_ALT_004: synthetic colored stripes movie with a custom PNG poster.">
            <a:hlinkClick r:id="" action="ppaction://media"/>
            <a:extLst>
              <a:ext uri="{FF2B5EF4-FFF2-40B4-BE49-F238E27FC236}">
                <a16:creationId xmlns:a16="http://schemas.microsoft.com/office/drawing/2014/main" id="{A8486030-3B2B-2284-5B5C-C2ABFFF58F09}"/>
              </a:ext>
            </a:extLst>
          </p:cNvPr>
          <p:cNvPicPr>
            <a:picLocks noGrp="1" noChangeAspect="1"/>
          </p:cNvPicPr>
          <p:nvPr>
            <p:ph idx="1"/>
            <a:videoFile r:link="rId1"/>
            <p:extLst>
              <p:ext uri="{DAA4B4D4-6D71-4841-9C94-3DE7FCFB9230}">
                <p14:media xmlns:p14="http://schemas.microsoft.com/office/powerpoint/2010/main" r:embed="rId2">
                  <p14:trim st="50" end="50"/>
                  <p14:fade in="250" out="500"/>
                  <p14:extLst>
                    <p:ext uri="{3AFAAA56-56D3-431D-BCD4-E75A35582382}">
                      <p173:tracksInfo xmlns:p173="http://schemas.microsoft.com/office/powerpoint/2017/3/main" displayLoc="media">
                        <p173:trackLst>
                          <p173:track id="{22E87EF0-5BD7-B344-840B-341EC7730D78}" label="English Fixture 007" lang="en-us" r:embed="rId4"/>
                        </p173:trackLst>
                      </p173:tracksInfo>
                    </p:ext>
                  </p14:extLst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228850" y="1825625"/>
            <a:ext cx="7735888" cy="4351338"/>
          </a:xfrm>
        </p:spPr>
      </p:pic>
    </p:spTree>
    <p:extLst>
      <p:ext uri="{BB962C8B-B14F-4D97-AF65-F5344CB8AC3E}">
        <p14:creationId xmlns:p14="http://schemas.microsoft.com/office/powerpoint/2010/main" val="3468309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3A7F9-79CC-F1DC-25F6-2E81B9A09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AUDIO_EMBED_004</a:t>
            </a:r>
          </a:p>
        </p:txBody>
      </p:sp>
      <p:pic>
        <p:nvPicPr>
          <p:cNvPr id="4" name="tone.wav">
            <a:hlinkClick r:id="" action="ppaction://media"/>
            <a:extLst>
              <a:ext uri="{FF2B5EF4-FFF2-40B4-BE49-F238E27FC236}">
                <a16:creationId xmlns:a16="http://schemas.microsoft.com/office/drawing/2014/main" id="{0E6B83EF-D5F7-E236-5496-E2690EF9B972}"/>
              </a:ext>
            </a:extLst>
          </p:cNvPr>
          <p:cNvPicPr>
            <a:picLocks noGrp="1" noChangeAspect="1"/>
          </p:cNvPicPr>
          <p:nvPr>
            <p:ph idx="1"/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9600" y="3594100"/>
            <a:ext cx="812800" cy="812800"/>
          </a:xfrm>
        </p:spPr>
      </p:pic>
    </p:spTree>
    <p:extLst>
      <p:ext uri="{BB962C8B-B14F-4D97-AF65-F5344CB8AC3E}">
        <p14:creationId xmlns:p14="http://schemas.microsoft.com/office/powerpoint/2010/main" val="110413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repeatCount="indefinite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1BA2F-34CF-0707-BEFB-06C8C8BB4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OLE_WORKBOOK_004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2A737EE-EDFA-DF9D-02DB-31806C56C079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4363691"/>
              </p:ext>
            </p:extLst>
          </p:nvPr>
        </p:nvGraphicFramePr>
        <p:xfrm>
          <a:off x="4851400" y="3486150"/>
          <a:ext cx="24892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489200" imgH="1028700" progId="Excel.Sheet.12">
                  <p:embed/>
                </p:oleObj>
              </mc:Choice>
              <mc:Fallback>
                <p:oleObj name="Worksheet" r:id="rId2" imgW="2489200" imgH="10287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851400" y="3486150"/>
                        <a:ext cx="2489200" cy="1028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5532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2B018-B0F5-A141-5705-EA3225C40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SVG_VECTOR_007</a:t>
            </a:r>
          </a:p>
        </p:txBody>
      </p:sp>
      <p:pic>
        <p:nvPicPr>
          <p:cNvPr id="5" name="Content Placeholder 4" descr="SVG_ALT_007: blue and yellow vector blocks with the SVG_MARKER_007 label.">
            <a:extLst>
              <a:ext uri="{FF2B5EF4-FFF2-40B4-BE49-F238E27FC236}">
                <a16:creationId xmlns:a16="http://schemas.microsoft.com/office/drawing/2014/main" id="{8D3C231F-E321-7DED-A48C-346A82E959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0" y="3144044"/>
            <a:ext cx="54864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953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E9E28-C37C-E6CF-36F0-0F552E312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MODEL_3D_007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Content Placeholder 3" descr="MODEL_ALT_007: synthetic colored triangle shown from above, front and right.">
                <a:extLst>
                  <a:ext uri="{FF2B5EF4-FFF2-40B4-BE49-F238E27FC236}">
                    <a16:creationId xmlns:a16="http://schemas.microsoft.com/office/drawing/2014/main" id="{325A76D5-ACBF-30F3-839E-AEDE50DC5E30}"/>
                  </a:ext>
                </a:extLst>
              </p:cNvPr>
              <p:cNvGraphicFramePr>
                <a:graphicFrameLocks noGrp="1" noChangeAspect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389235844"/>
                  </p:ext>
                </p:extLst>
              </p:nvPr>
            </p:nvGraphicFramePr>
            <p:xfrm>
              <a:off x="4656125" y="2398419"/>
              <a:ext cx="2879748" cy="320574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879748" cy="3205748"/>
                    </a:xfrm>
                    <a:prstGeom prst="rect">
                      <a:avLst/>
                    </a:prstGeom>
                  </am3d:spPr>
                  <am3d:camera>
                    <am3d:pos x="0" y="0" z="6250029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24999" d="1000000"/>
                    <am3d:preTrans dx="0" dy="-225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200000" ay="-1800000" az="-60000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435133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Content Placeholder 3" descr="MODEL_ALT_007: synthetic colored triangle shown from above, front and right.">
                <a:extLst>
                  <a:ext uri="{FF2B5EF4-FFF2-40B4-BE49-F238E27FC236}">
                    <a16:creationId xmlns:a16="http://schemas.microsoft.com/office/drawing/2014/main" id="{325A76D5-ACBF-30F3-839E-AEDE50DC5E3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56125" y="2398419"/>
                <a:ext cx="2879748" cy="320574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1757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336B6-307D-C900-954B-F9EB933A4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CHARTEX_WATERFALL_007</a:t>
            </a: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085BBC1B-6747-DD71-FFF1-DEA0511CD19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86368457"/>
                  </p:ext>
                </p:extLst>
              </p:nvPr>
            </p:nvGraphicFramePr>
            <p:xfrm>
              <a:off x="838200" y="1825625"/>
              <a:ext cx="10515600" cy="435133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Content Placeholder 3">
                <a:extLst>
                  <a:ext uri="{FF2B5EF4-FFF2-40B4-BE49-F238E27FC236}">
                    <a16:creationId xmlns:a16="http://schemas.microsoft.com/office/drawing/2014/main" id="{085BBC1B-6747-DD71-FFF1-DEA0511CD19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8640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17B3F-32FF-7CE0-EA60-E15934102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CHARTEX_SUNBURST_007</a:t>
            </a: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CC4D0465-7FA9-7571-E899-7A9BF66A79A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5010804"/>
                  </p:ext>
                </p:extLst>
              </p:nvPr>
            </p:nvGraphicFramePr>
            <p:xfrm>
              <a:off x="838200" y="1825625"/>
              <a:ext cx="10515600" cy="435133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Content Placeholder 3">
                <a:extLst>
                  <a:ext uri="{FF2B5EF4-FFF2-40B4-BE49-F238E27FC236}">
                    <a16:creationId xmlns:a16="http://schemas.microsoft.com/office/drawing/2014/main" id="{CC4D0465-7FA9-7571-E899-7A9BF66A79A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6788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59</Words>
  <Application>Microsoft Macintosh PowerPoint</Application>
  <PresentationFormat>Widescreen</PresentationFormat>
  <Paragraphs>12</Paragraphs>
  <Slides>8</Slides>
  <Notes>0</Notes>
  <HiddenSlides>0</HiddenSlides>
  <MMClips>2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Worksheet</vt:lpstr>
      <vt:lpstr>PPT_MODERN_MEDIA_007</vt:lpstr>
      <vt:lpstr>VIDEO_EMBED_004</vt:lpstr>
      <vt:lpstr>AUDIO_EMBED_004</vt:lpstr>
      <vt:lpstr>OLE_WORKBOOK_004</vt:lpstr>
      <vt:lpstr>SVG_VECTOR_007</vt:lpstr>
      <vt:lpstr>MODEL_3D_007</vt:lpstr>
      <vt:lpstr>CHARTEX_WATERFALL_007</vt:lpstr>
      <vt:lpstr>CHARTEX_SUNBURST_007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Ryker Zhu</dc:creator>
  <cp:lastModifiedBy>Ryker Zhu</cp:lastModifiedBy>
  <cp:revision>2</cp:revision>
  <dcterms:created xsi:type="dcterms:W3CDTF">2026-10-15T07:27:33Z</dcterms:created>
  <dcterms:modified xsi:type="dcterms:W3CDTF">2026-10-15T09:30:45Z</dcterms:modified>
</cp:coreProperties>
</file>